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7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628"/>
  </p:normalViewPr>
  <p:slideViewPr>
    <p:cSldViewPr snapToGrid="0">
      <p:cViewPr varScale="1">
        <p:scale>
          <a:sx n="114" d="100"/>
          <a:sy n="114" d="100"/>
        </p:scale>
        <p:origin x="1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059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351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97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2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9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94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939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92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655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13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28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5F3B0-A970-48AF-BBC5-06AE71152E7E}" type="datetimeFigureOut">
              <a:rPr lang="en-US" smtClean="0"/>
              <a:t>3/5/26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937EC0-ADF2-40DA-A2CB-04D2A2D503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922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24A4A7A4-4D27-24F4-D2C3-BAC614063FF8}"/>
              </a:ext>
            </a:extLst>
          </p:cNvPr>
          <p:cNvSpPr txBox="1"/>
          <p:nvPr/>
        </p:nvSpPr>
        <p:spPr>
          <a:xfrm>
            <a:off x="599171" y="314472"/>
            <a:ext cx="4201427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75" b="1" dirty="0"/>
              <a:t>Telemetry Capture Pipeline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2B6C89-896F-097C-723C-1BCC7624857E}"/>
              </a:ext>
            </a:extLst>
          </p:cNvPr>
          <p:cNvSpPr txBox="1"/>
          <p:nvPr/>
        </p:nvSpPr>
        <p:spPr>
          <a:xfrm>
            <a:off x="599171" y="672262"/>
            <a:ext cx="420142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GPU hardware telemetry is captured concurrently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8B2E13-994D-4F45-C5AA-B5CFF12CC6A1}"/>
              </a:ext>
            </a:extLst>
          </p:cNvPr>
          <p:cNvSpPr/>
          <p:nvPr/>
        </p:nvSpPr>
        <p:spPr>
          <a:xfrm>
            <a:off x="3273641" y="1226460"/>
            <a:ext cx="2282917" cy="369983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Candidate Kernel Code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1D59D9-18D9-C364-95D6-659E606B37C6}"/>
              </a:ext>
            </a:extLst>
          </p:cNvPr>
          <p:cNvSpPr/>
          <p:nvPr/>
        </p:nvSpPr>
        <p:spPr>
          <a:xfrm>
            <a:off x="599170" y="1836615"/>
            <a:ext cx="7631859" cy="697903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50" b="1" dirty="0"/>
              <a:t>H100 GPU </a:t>
            </a:r>
          </a:p>
          <a:p>
            <a:pPr algn="ctr"/>
            <a:endParaRPr lang="en-US" sz="1350" b="1" dirty="0"/>
          </a:p>
          <a:p>
            <a:pPr algn="ctr"/>
            <a:endParaRPr lang="en-US" sz="1350" b="1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836C530-6697-A6DB-BCF6-C379D373297B}"/>
              </a:ext>
            </a:extLst>
          </p:cNvPr>
          <p:cNvSpPr/>
          <p:nvPr/>
        </p:nvSpPr>
        <p:spPr>
          <a:xfrm>
            <a:off x="3220514" y="2092345"/>
            <a:ext cx="3003083" cy="3699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Kernel Execution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Warmup </a:t>
            </a:r>
            <a:r>
              <a:rPr lang="en-US" sz="1125" dirty="0">
                <a:solidFill>
                  <a:schemeClr val="tx1"/>
                </a:solidFill>
                <a:sym typeface="Wingdings" panose="05000000000000000000" pitchFamily="2" charset="2"/>
              </a:rPr>
              <a:t> Correctness  Performance </a:t>
            </a:r>
            <a:endParaRPr lang="en-US" sz="1125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762C382-F693-789D-415F-479A3714E11E}"/>
              </a:ext>
            </a:extLst>
          </p:cNvPr>
          <p:cNvSpPr/>
          <p:nvPr/>
        </p:nvSpPr>
        <p:spPr>
          <a:xfrm>
            <a:off x="3400622" y="3048813"/>
            <a:ext cx="2018537" cy="361578"/>
          </a:xfrm>
          <a:prstGeom prst="roundRect">
            <a:avLst/>
          </a:prstGeom>
          <a:solidFill>
            <a:schemeClr val="accent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bg1"/>
                </a:solidFill>
              </a:rPr>
              <a:t>NVML Power Sampler</a:t>
            </a:r>
            <a:endParaRPr lang="en-US" sz="1125" dirty="0">
              <a:solidFill>
                <a:schemeClr val="bg1"/>
              </a:solidFill>
            </a:endParaRPr>
          </a:p>
          <a:p>
            <a:pPr algn="ctr"/>
            <a:r>
              <a:rPr lang="en-US" sz="1125" dirty="0">
                <a:solidFill>
                  <a:schemeClr val="bg1"/>
                </a:solidFill>
              </a:rPr>
              <a:t>50ms polling thread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ED178F5-3142-9A80-D244-0B783C7B9BD6}"/>
              </a:ext>
            </a:extLst>
          </p:cNvPr>
          <p:cNvSpPr/>
          <p:nvPr/>
        </p:nvSpPr>
        <p:spPr>
          <a:xfrm>
            <a:off x="5985434" y="3060378"/>
            <a:ext cx="2018537" cy="361578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bg1"/>
                </a:solidFill>
              </a:rPr>
              <a:t>H100 Rust </a:t>
            </a:r>
            <a:r>
              <a:rPr lang="en-US" sz="1125" b="1" dirty="0" err="1">
                <a:solidFill>
                  <a:schemeClr val="bg1"/>
                </a:solidFill>
              </a:rPr>
              <a:t>gRPC</a:t>
            </a:r>
            <a:r>
              <a:rPr lang="en-US" sz="1125" b="1" dirty="0">
                <a:solidFill>
                  <a:schemeClr val="bg1"/>
                </a:solidFill>
              </a:rPr>
              <a:t> Sampler</a:t>
            </a:r>
            <a:endParaRPr lang="en-US" sz="1125" dirty="0">
              <a:solidFill>
                <a:schemeClr val="bg1"/>
              </a:solidFill>
            </a:endParaRPr>
          </a:p>
          <a:p>
            <a:pPr algn="ctr"/>
            <a:r>
              <a:rPr lang="en-US" sz="1125" dirty="0">
                <a:solidFill>
                  <a:schemeClr val="bg1"/>
                </a:solidFill>
              </a:rPr>
              <a:t>Optional/advanced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E2911D-CF23-4C94-9509-AFD8B667BF31}"/>
              </a:ext>
            </a:extLst>
          </p:cNvPr>
          <p:cNvSpPr/>
          <p:nvPr/>
        </p:nvSpPr>
        <p:spPr>
          <a:xfrm>
            <a:off x="830322" y="3060378"/>
            <a:ext cx="2018537" cy="361578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CUDA Events</a:t>
            </a: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Timing 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085DE88E-9051-A760-FFB7-968E2D36BEEE}"/>
              </a:ext>
            </a:extLst>
          </p:cNvPr>
          <p:cNvSpPr/>
          <p:nvPr/>
        </p:nvSpPr>
        <p:spPr>
          <a:xfrm>
            <a:off x="3400622" y="3669697"/>
            <a:ext cx="2018537" cy="6413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Trapezoidal Energy Integration</a:t>
            </a:r>
            <a:endParaRPr lang="en-US" sz="1125" dirty="0">
              <a:solidFill>
                <a:schemeClr val="tx1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A2936D7-238F-9D01-DC3C-8AEFAB87329D}"/>
              </a:ext>
            </a:extLst>
          </p:cNvPr>
          <p:cNvSpPr/>
          <p:nvPr/>
        </p:nvSpPr>
        <p:spPr>
          <a:xfrm>
            <a:off x="5985434" y="3681262"/>
            <a:ext cx="2018537" cy="641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 err="1">
                <a:solidFill>
                  <a:schemeClr val="tx1"/>
                </a:solidFill>
              </a:rPr>
              <a:t>EnergyTrace</a:t>
            </a:r>
            <a:endParaRPr lang="en-US" sz="1125" b="1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Field list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05E98FA-A0A4-7371-B01F-7B6846EDB501}"/>
              </a:ext>
            </a:extLst>
          </p:cNvPr>
          <p:cNvSpPr/>
          <p:nvPr/>
        </p:nvSpPr>
        <p:spPr>
          <a:xfrm>
            <a:off x="830322" y="3681262"/>
            <a:ext cx="2018537" cy="64135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Kernel Timing </a:t>
            </a: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(</a:t>
            </a:r>
            <a:r>
              <a:rPr lang="en-US" sz="1125" dirty="0" err="1">
                <a:solidFill>
                  <a:schemeClr val="tx1"/>
                </a:solidFill>
              </a:rPr>
              <a:t>runtime_ms</a:t>
            </a:r>
            <a:r>
              <a:rPr lang="en-US" sz="1125" dirty="0">
                <a:solidFill>
                  <a:schemeClr val="tx1"/>
                </a:solidFill>
              </a:rPr>
              <a:t>, speedup)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01195A76-8335-DEFA-BE74-C48B803FBCCB}"/>
              </a:ext>
            </a:extLst>
          </p:cNvPr>
          <p:cNvSpPr/>
          <p:nvPr/>
        </p:nvSpPr>
        <p:spPr>
          <a:xfrm>
            <a:off x="3400622" y="5429468"/>
            <a:ext cx="2018537" cy="641355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Reward Function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Consumed inputs</a:t>
            </a: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Scalar reward for GRPO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6A03938-C57A-9352-B50C-F46E746CCD2E}"/>
              </a:ext>
            </a:extLst>
          </p:cNvPr>
          <p:cNvSpPr/>
          <p:nvPr/>
        </p:nvSpPr>
        <p:spPr>
          <a:xfrm>
            <a:off x="5985434" y="5441033"/>
            <a:ext cx="2018537" cy="641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IPW Adapter</a:t>
            </a: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Per-token metrics list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70A446-0651-1CBB-1116-1D32F20566CE}"/>
              </a:ext>
            </a:extLst>
          </p:cNvPr>
          <p:cNvSpPr/>
          <p:nvPr/>
        </p:nvSpPr>
        <p:spPr>
          <a:xfrm>
            <a:off x="5985434" y="4540372"/>
            <a:ext cx="2018537" cy="64135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Phase Attribution</a:t>
            </a:r>
            <a:endParaRPr lang="en-US" sz="1125" dirty="0">
              <a:solidFill>
                <a:schemeClr val="tx1"/>
              </a:solidFill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CEA3627-93F8-9136-6317-D0A02C252AD2}"/>
              </a:ext>
            </a:extLst>
          </p:cNvPr>
          <p:cNvCxnSpPr>
            <a:cxnSpLocks/>
            <a:stCxn id="10" idx="2"/>
            <a:endCxn id="6" idx="0"/>
          </p:cNvCxnSpPr>
          <p:nvPr/>
        </p:nvCxnSpPr>
        <p:spPr>
          <a:xfrm>
            <a:off x="4415100" y="1596443"/>
            <a:ext cx="0" cy="2401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B1F84E-88FA-4C35-B616-B630DA7DD004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4409891" y="2522953"/>
            <a:ext cx="421" cy="525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6B3F054-E903-3A31-FB94-40F2EA8E7268}"/>
              </a:ext>
            </a:extLst>
          </p:cNvPr>
          <p:cNvCxnSpPr>
            <a:cxnSpLocks/>
          </p:cNvCxnSpPr>
          <p:nvPr/>
        </p:nvCxnSpPr>
        <p:spPr>
          <a:xfrm flipH="1">
            <a:off x="7031276" y="2538142"/>
            <a:ext cx="421" cy="525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1439F9F3-ED6F-9CA3-4AC7-B26B6D2CBAC7}"/>
              </a:ext>
            </a:extLst>
          </p:cNvPr>
          <p:cNvCxnSpPr>
            <a:cxnSpLocks/>
          </p:cNvCxnSpPr>
          <p:nvPr/>
        </p:nvCxnSpPr>
        <p:spPr>
          <a:xfrm flipH="1">
            <a:off x="1848732" y="2538142"/>
            <a:ext cx="421" cy="5258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07F7037B-4A8D-38B9-3051-722F441B09D5}"/>
              </a:ext>
            </a:extLst>
          </p:cNvPr>
          <p:cNvCxnSpPr/>
          <p:nvPr/>
        </p:nvCxnSpPr>
        <p:spPr>
          <a:xfrm flipH="1">
            <a:off x="1833775" y="3429000"/>
            <a:ext cx="422" cy="241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031FE49-989B-8044-508C-2C05B013FF3D}"/>
              </a:ext>
            </a:extLst>
          </p:cNvPr>
          <p:cNvCxnSpPr>
            <a:stCxn id="13" idx="2"/>
            <a:endCxn id="17" idx="0"/>
          </p:cNvCxnSpPr>
          <p:nvPr/>
        </p:nvCxnSpPr>
        <p:spPr>
          <a:xfrm>
            <a:off x="4409891" y="3410391"/>
            <a:ext cx="0" cy="259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455BFF5-D2DD-8A77-B49D-8B1AA8D08BAC}"/>
              </a:ext>
            </a:extLst>
          </p:cNvPr>
          <p:cNvCxnSpPr>
            <a:stCxn id="15" idx="2"/>
            <a:endCxn id="18" idx="0"/>
          </p:cNvCxnSpPr>
          <p:nvPr/>
        </p:nvCxnSpPr>
        <p:spPr>
          <a:xfrm>
            <a:off x="6994703" y="3421956"/>
            <a:ext cx="0" cy="259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B2490CAD-D427-646A-A124-7D9D0D75606D}"/>
              </a:ext>
            </a:extLst>
          </p:cNvPr>
          <p:cNvSpPr txBox="1"/>
          <p:nvPr/>
        </p:nvSpPr>
        <p:spPr>
          <a:xfrm>
            <a:off x="1842560" y="2644879"/>
            <a:ext cx="2110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Compiled CUDA kernel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7E7E2F3-95FF-C5F7-2B39-73BDB3017EE8}"/>
              </a:ext>
            </a:extLst>
          </p:cNvPr>
          <p:cNvSpPr txBox="1"/>
          <p:nvPr/>
        </p:nvSpPr>
        <p:spPr>
          <a:xfrm>
            <a:off x="4394106" y="2633314"/>
            <a:ext cx="2110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err="1"/>
              <a:t>Runtime_ms</a:t>
            </a:r>
            <a:r>
              <a:rPr lang="en-US" sz="1100" dirty="0"/>
              <a:t>, speedup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42A9C8C-E464-55AA-E399-DE9C3C4F6444}"/>
              </a:ext>
            </a:extLst>
          </p:cNvPr>
          <p:cNvSpPr txBox="1"/>
          <p:nvPr/>
        </p:nvSpPr>
        <p:spPr>
          <a:xfrm>
            <a:off x="7004952" y="2644879"/>
            <a:ext cx="21105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Optional/advanced path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607AAF86-F6DE-00FD-646D-7C6FFFBBA4C8}"/>
              </a:ext>
            </a:extLst>
          </p:cNvPr>
          <p:cNvCxnSpPr>
            <a:stCxn id="17" idx="2"/>
            <a:endCxn id="20" idx="0"/>
          </p:cNvCxnSpPr>
          <p:nvPr/>
        </p:nvCxnSpPr>
        <p:spPr>
          <a:xfrm>
            <a:off x="4409891" y="4311052"/>
            <a:ext cx="0" cy="11184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86C80D0-6834-CE30-8C10-9BEE85976A15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6994703" y="4322617"/>
            <a:ext cx="0" cy="21775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87058E-B1FE-DAB7-436F-1DCDA2B97CE7}"/>
              </a:ext>
            </a:extLst>
          </p:cNvPr>
          <p:cNvCxnSpPr>
            <a:cxnSpLocks/>
            <a:stCxn id="22" idx="2"/>
            <a:endCxn id="21" idx="0"/>
          </p:cNvCxnSpPr>
          <p:nvPr/>
        </p:nvCxnSpPr>
        <p:spPr>
          <a:xfrm>
            <a:off x="6994703" y="5181727"/>
            <a:ext cx="0" cy="2593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5E8E8401-4F4F-AFAE-0DBB-EF2E41AC9D0C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flipH="1" flipV="1">
            <a:off x="5419159" y="5750146"/>
            <a:ext cx="566275" cy="115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53D1C8E2-EC28-BFD2-DB38-254C3F8A1799}"/>
              </a:ext>
            </a:extLst>
          </p:cNvPr>
          <p:cNvSpPr txBox="1"/>
          <p:nvPr/>
        </p:nvSpPr>
        <p:spPr>
          <a:xfrm>
            <a:off x="4501307" y="4659712"/>
            <a:ext cx="10552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Prefill/decode segments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EB3DC0B-8919-FDAD-5C4B-F788AA5A56BF}"/>
              </a:ext>
            </a:extLst>
          </p:cNvPr>
          <p:cNvSpPr txBox="1"/>
          <p:nvPr/>
        </p:nvSpPr>
        <p:spPr>
          <a:xfrm>
            <a:off x="3388998" y="4659712"/>
            <a:ext cx="105525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Aandi nase</a:t>
            </a:r>
          </a:p>
          <a:p>
            <a:r>
              <a:rPr lang="en-US" sz="1100" dirty="0"/>
              <a:t>segments</a:t>
            </a:r>
          </a:p>
        </p:txBody>
      </p:sp>
      <p:cxnSp>
        <p:nvCxnSpPr>
          <p:cNvPr id="60" name="Connector: Elbow 59">
            <a:extLst>
              <a:ext uri="{FF2B5EF4-FFF2-40B4-BE49-F238E27FC236}">
                <a16:creationId xmlns:a16="http://schemas.microsoft.com/office/drawing/2014/main" id="{A59354A8-14EA-EDB6-7F7C-D9C0C8A9C2FB}"/>
              </a:ext>
            </a:extLst>
          </p:cNvPr>
          <p:cNvCxnSpPr>
            <a:cxnSpLocks/>
            <a:stCxn id="19" idx="2"/>
            <a:endCxn id="20" idx="1"/>
          </p:cNvCxnSpPr>
          <p:nvPr/>
        </p:nvCxnSpPr>
        <p:spPr>
          <a:xfrm rot="16200000" flipH="1">
            <a:off x="1906342" y="4255865"/>
            <a:ext cx="1427529" cy="156103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220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CEB7010-3A8B-0AF3-9342-32D816B9D5F5}"/>
              </a:ext>
            </a:extLst>
          </p:cNvPr>
          <p:cNvSpPr txBox="1"/>
          <p:nvPr/>
        </p:nvSpPr>
        <p:spPr>
          <a:xfrm>
            <a:off x="599171" y="314472"/>
            <a:ext cx="4201427" cy="380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75" b="1" dirty="0"/>
              <a:t>GRPO Training Pipeline (M1/M2/M3)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9CB10-EAC1-35AE-E007-7A62DA5D9AC2}"/>
              </a:ext>
            </a:extLst>
          </p:cNvPr>
          <p:cNvSpPr txBox="1"/>
          <p:nvPr/>
        </p:nvSpPr>
        <p:spPr>
          <a:xfrm>
            <a:off x="599171" y="672262"/>
            <a:ext cx="625882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End-to-end RL training loop in the specification environment for Figma 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4857328-181A-1A02-606B-82F6B1D6F309}"/>
              </a:ext>
            </a:extLst>
          </p:cNvPr>
          <p:cNvSpPr/>
          <p:nvPr/>
        </p:nvSpPr>
        <p:spPr>
          <a:xfrm>
            <a:off x="599171" y="1129352"/>
            <a:ext cx="1859549" cy="64135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 err="1">
                <a:solidFill>
                  <a:schemeClr val="tx1"/>
                </a:solidFill>
              </a:rPr>
              <a:t>KernelBench</a:t>
            </a:r>
            <a:r>
              <a:rPr lang="en-US" sz="1125" b="1" dirty="0">
                <a:solidFill>
                  <a:schemeClr val="tx1"/>
                </a:solidFill>
              </a:rPr>
              <a:t> Task Pool</a:t>
            </a:r>
            <a:endParaRPr lang="en-US" sz="1125" dirty="0">
              <a:solidFill>
                <a:schemeClr val="tx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DFA84E-187A-3C1F-DB87-84690F1C8FBB}"/>
              </a:ext>
            </a:extLst>
          </p:cNvPr>
          <p:cNvSpPr/>
          <p:nvPr/>
        </p:nvSpPr>
        <p:spPr>
          <a:xfrm>
            <a:off x="3440445" y="1129352"/>
            <a:ext cx="1859549" cy="6413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Prompt Builder </a:t>
            </a:r>
            <a:endParaRPr lang="en-US" sz="1125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CACAFB5-A917-7BAB-82DE-2BC21B608881}"/>
              </a:ext>
            </a:extLst>
          </p:cNvPr>
          <p:cNvSpPr/>
          <p:nvPr/>
        </p:nvSpPr>
        <p:spPr>
          <a:xfrm>
            <a:off x="6281719" y="1129352"/>
            <a:ext cx="2263110" cy="641355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Qwen2.5-Coder-7B + </a:t>
            </a:r>
            <a:r>
              <a:rPr lang="en-US" sz="1125" b="1" dirty="0" err="1">
                <a:solidFill>
                  <a:schemeClr val="tx1"/>
                </a:solidFill>
              </a:rPr>
              <a:t>LoRA</a:t>
            </a:r>
            <a:r>
              <a:rPr lang="en-US" sz="1125" b="1" dirty="0">
                <a:solidFill>
                  <a:schemeClr val="tx1"/>
                </a:solidFill>
              </a:rPr>
              <a:t> (r=64)</a:t>
            </a:r>
            <a:endParaRPr lang="en-US" sz="1125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A20E208-852A-5C94-D658-512436DFF7ED}"/>
              </a:ext>
            </a:extLst>
          </p:cNvPr>
          <p:cNvCxnSpPr>
            <a:stCxn id="10" idx="3"/>
            <a:endCxn id="11" idx="1"/>
          </p:cNvCxnSpPr>
          <p:nvPr/>
        </p:nvCxnSpPr>
        <p:spPr>
          <a:xfrm>
            <a:off x="2458720" y="1450030"/>
            <a:ext cx="9817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6D1838D-7356-D2CB-174C-D2693C711279}"/>
              </a:ext>
            </a:extLst>
          </p:cNvPr>
          <p:cNvCxnSpPr>
            <a:cxnSpLocks/>
            <a:stCxn id="11" idx="3"/>
            <a:endCxn id="12" idx="1"/>
          </p:cNvCxnSpPr>
          <p:nvPr/>
        </p:nvCxnSpPr>
        <p:spPr>
          <a:xfrm>
            <a:off x="5299994" y="1450030"/>
            <a:ext cx="9817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72219C3-C9EC-E2AB-9E1A-481DA206262E}"/>
              </a:ext>
            </a:extLst>
          </p:cNvPr>
          <p:cNvSpPr/>
          <p:nvPr/>
        </p:nvSpPr>
        <p:spPr>
          <a:xfrm>
            <a:off x="599171" y="2040586"/>
            <a:ext cx="7945658" cy="1351104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/>
              <a:t>GPU Evaluation</a:t>
            </a:r>
          </a:p>
          <a:p>
            <a:pPr algn="ctr"/>
            <a:endParaRPr lang="en-US" sz="1500" b="1" dirty="0"/>
          </a:p>
          <a:p>
            <a:pPr algn="ctr"/>
            <a:endParaRPr lang="en-US" sz="1500" b="1" dirty="0"/>
          </a:p>
          <a:p>
            <a:pPr algn="ctr"/>
            <a:endParaRPr lang="en-US" sz="1500" b="1" dirty="0"/>
          </a:p>
          <a:p>
            <a:pPr algn="ctr"/>
            <a:endParaRPr lang="en-US" sz="1500" b="1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45F354-EB60-0F5D-1DC9-B54B1E58A88F}"/>
              </a:ext>
            </a:extLst>
          </p:cNvPr>
          <p:cNvSpPr/>
          <p:nvPr/>
        </p:nvSpPr>
        <p:spPr>
          <a:xfrm>
            <a:off x="744863" y="2515492"/>
            <a:ext cx="2160898" cy="759358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Pre-Check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AST parse, </a:t>
            </a:r>
            <a:r>
              <a:rPr lang="en-US" sz="1125" dirty="0" err="1">
                <a:solidFill>
                  <a:schemeClr val="tx1"/>
                </a:solidFill>
              </a:rPr>
              <a:t>ModelNew</a:t>
            </a:r>
            <a:r>
              <a:rPr lang="en-US" sz="1125" dirty="0">
                <a:solidFill>
                  <a:schemeClr val="tx1"/>
                </a:solidFill>
              </a:rPr>
              <a:t> class check, forward(), arity match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FE05D2-C2E2-0CAC-B906-64DE825C4CE5}"/>
              </a:ext>
            </a:extLst>
          </p:cNvPr>
          <p:cNvSpPr/>
          <p:nvPr/>
        </p:nvSpPr>
        <p:spPr>
          <a:xfrm>
            <a:off x="3491551" y="2515492"/>
            <a:ext cx="2160898" cy="7593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 err="1">
                <a:solidFill>
                  <a:schemeClr val="tx1"/>
                </a:solidFill>
              </a:rPr>
              <a:t>KernelBench</a:t>
            </a:r>
            <a:r>
              <a:rPr lang="en-US" sz="1125" b="1" dirty="0">
                <a:solidFill>
                  <a:schemeClr val="tx1"/>
                </a:solidFill>
              </a:rPr>
              <a:t> Eval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>
                <a:solidFill>
                  <a:schemeClr val="tx1"/>
                </a:solidFill>
              </a:rPr>
              <a:t>Compile candidate, 3 correctness trials</a:t>
            </a:r>
          </a:p>
          <a:p>
            <a:pPr algn="ctr"/>
            <a:r>
              <a:rPr lang="en-US" sz="1125" dirty="0">
                <a:solidFill>
                  <a:schemeClr val="tx1"/>
                </a:solidFill>
                <a:sym typeface="Wingdings" panose="05000000000000000000" pitchFamily="2" charset="2"/>
              </a:rPr>
              <a:t> CUDA event timing </a:t>
            </a:r>
            <a:endParaRPr lang="en-US" sz="1125" dirty="0">
              <a:solidFill>
                <a:schemeClr val="tx1"/>
              </a:solidFill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70C94B0-66F9-CC74-F854-CE7C31634EC1}"/>
              </a:ext>
            </a:extLst>
          </p:cNvPr>
          <p:cNvSpPr/>
          <p:nvPr/>
        </p:nvSpPr>
        <p:spPr>
          <a:xfrm>
            <a:off x="6136027" y="2515492"/>
            <a:ext cx="2160898" cy="75935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NVML Power Sampler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 err="1">
                <a:solidFill>
                  <a:schemeClr val="tx1"/>
                </a:solidFill>
              </a:rPr>
              <a:t>Avg_power_w</a:t>
            </a:r>
            <a:r>
              <a:rPr lang="en-US" sz="1125" dirty="0">
                <a:solidFill>
                  <a:schemeClr val="tx1"/>
                </a:solidFill>
              </a:rPr>
              <a:t>, joules 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A01B766-CD4E-933D-464A-DACC5771B7D7}"/>
              </a:ext>
            </a:extLst>
          </p:cNvPr>
          <p:cNvSpPr/>
          <p:nvPr/>
        </p:nvSpPr>
        <p:spPr>
          <a:xfrm>
            <a:off x="1935346" y="3749756"/>
            <a:ext cx="5273309" cy="1351104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tx1"/>
                </a:solidFill>
              </a:rPr>
              <a:t>Reward Computation </a:t>
            </a:r>
            <a:endParaRPr lang="en-US" sz="1500" dirty="0">
              <a:solidFill>
                <a:schemeClr val="tx1"/>
              </a:solidFill>
            </a:endParaRPr>
          </a:p>
          <a:p>
            <a:r>
              <a:rPr lang="en-US" sz="1200" dirty="0">
                <a:solidFill>
                  <a:schemeClr val="tx1"/>
                </a:solidFill>
              </a:rPr>
              <a:t>Penalty Components (Deductions from Reward):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Runtime Penalty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Joules Penalty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Power Penalty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Latency Penalty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849C57B7-D830-0D70-6517-FC3ED24B30C7}"/>
              </a:ext>
            </a:extLst>
          </p:cNvPr>
          <p:cNvSpPr/>
          <p:nvPr/>
        </p:nvSpPr>
        <p:spPr>
          <a:xfrm>
            <a:off x="3119120" y="5384766"/>
            <a:ext cx="2905760" cy="1033342"/>
          </a:xfrm>
          <a:prstGeom prst="roundRect">
            <a:avLst/>
          </a:prstGeom>
          <a:solidFill>
            <a:schemeClr val="tx2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 dirty="0">
                <a:solidFill>
                  <a:schemeClr val="bg1"/>
                </a:solidFill>
              </a:rPr>
              <a:t>GRPO Policy Update</a:t>
            </a:r>
            <a:endParaRPr lang="en-US" sz="15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GRPO algorithm optimization steps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Multi-head model update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Regularization and policy refinement 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60B1A55-5EA1-EF7E-9730-EE8E371DEF10}"/>
              </a:ext>
            </a:extLst>
          </p:cNvPr>
          <p:cNvSpPr/>
          <p:nvPr/>
        </p:nvSpPr>
        <p:spPr>
          <a:xfrm>
            <a:off x="6444550" y="5580759"/>
            <a:ext cx="1852376" cy="641355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25" b="1" dirty="0">
                <a:solidFill>
                  <a:schemeClr val="tx1"/>
                </a:solidFill>
              </a:rPr>
              <a:t>Checkpoint</a:t>
            </a:r>
            <a:endParaRPr lang="en-US" sz="1125" dirty="0">
              <a:solidFill>
                <a:schemeClr val="tx1"/>
              </a:solidFill>
            </a:endParaRPr>
          </a:p>
          <a:p>
            <a:pPr algn="ctr"/>
            <a:r>
              <a:rPr lang="en-US" sz="1125" dirty="0" err="1">
                <a:solidFill>
                  <a:schemeClr val="tx1"/>
                </a:solidFill>
              </a:rPr>
              <a:t>LoRA</a:t>
            </a:r>
            <a:r>
              <a:rPr lang="en-US" sz="1125" dirty="0">
                <a:solidFill>
                  <a:schemeClr val="tx1"/>
                </a:solidFill>
              </a:rPr>
              <a:t> + </a:t>
            </a:r>
            <a:r>
              <a:rPr lang="en-US" sz="1125" dirty="0" err="1">
                <a:solidFill>
                  <a:schemeClr val="tx1"/>
                </a:solidFill>
              </a:rPr>
              <a:t>checkpoint.json</a:t>
            </a:r>
            <a:endParaRPr lang="en-US" sz="1125" dirty="0">
              <a:solidFill>
                <a:schemeClr val="tx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7221443-C1F4-AD96-5335-F43F0B57CFF4}"/>
              </a:ext>
            </a:extLst>
          </p:cNvPr>
          <p:cNvCxnSpPr>
            <a:cxnSpLocks/>
            <a:endCxn id="20" idx="1"/>
          </p:cNvCxnSpPr>
          <p:nvPr/>
        </p:nvCxnSpPr>
        <p:spPr>
          <a:xfrm>
            <a:off x="2920559" y="2895171"/>
            <a:ext cx="570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7D15DA7-F8BE-626B-7B4B-62966708610A}"/>
              </a:ext>
            </a:extLst>
          </p:cNvPr>
          <p:cNvCxnSpPr>
            <a:cxnSpLocks/>
            <a:stCxn id="20" idx="3"/>
            <a:endCxn id="21" idx="1"/>
          </p:cNvCxnSpPr>
          <p:nvPr/>
        </p:nvCxnSpPr>
        <p:spPr>
          <a:xfrm>
            <a:off x="5652449" y="2895171"/>
            <a:ext cx="483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464D547-4C93-08B6-49C3-66F7917D319B}"/>
              </a:ext>
            </a:extLst>
          </p:cNvPr>
          <p:cNvCxnSpPr>
            <a:cxnSpLocks/>
            <a:stCxn id="18" idx="2"/>
            <a:endCxn id="22" idx="0"/>
          </p:cNvCxnSpPr>
          <p:nvPr/>
        </p:nvCxnSpPr>
        <p:spPr>
          <a:xfrm>
            <a:off x="4572000" y="3391690"/>
            <a:ext cx="1" cy="358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1681F5C-5E18-DDD0-3A18-98D3CC90707E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4572000" y="5100860"/>
            <a:ext cx="0" cy="283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9F85629E-6753-C372-2D27-5EC52B6DEE75}"/>
              </a:ext>
            </a:extLst>
          </p:cNvPr>
          <p:cNvCxnSpPr>
            <a:cxnSpLocks/>
            <a:stCxn id="23" idx="3"/>
            <a:endCxn id="26" idx="1"/>
          </p:cNvCxnSpPr>
          <p:nvPr/>
        </p:nvCxnSpPr>
        <p:spPr>
          <a:xfrm>
            <a:off x="6024880" y="5901437"/>
            <a:ext cx="41967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8CAC6B0-5A68-B4FD-C1AB-4266171CC869}"/>
              </a:ext>
            </a:extLst>
          </p:cNvPr>
          <p:cNvCxnSpPr>
            <a:cxnSpLocks/>
          </p:cNvCxnSpPr>
          <p:nvPr/>
        </p:nvCxnSpPr>
        <p:spPr>
          <a:xfrm>
            <a:off x="7413274" y="1780867"/>
            <a:ext cx="0" cy="2603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F6D98E7E-E042-A649-F58C-4C5157F6516B}"/>
              </a:ext>
            </a:extLst>
          </p:cNvPr>
          <p:cNvSpPr txBox="1"/>
          <p:nvPr/>
        </p:nvSpPr>
        <p:spPr>
          <a:xfrm>
            <a:off x="2458720" y="1474759"/>
            <a:ext cx="9654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Formatted prompt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A1792FD-0FE4-79FB-0C85-E03957827E9A}"/>
              </a:ext>
            </a:extLst>
          </p:cNvPr>
          <p:cNvSpPr txBox="1"/>
          <p:nvPr/>
        </p:nvSpPr>
        <p:spPr>
          <a:xfrm>
            <a:off x="5342396" y="1474759"/>
            <a:ext cx="96546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Formatted prompt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E68519-7FEC-DABA-8359-009CA86614F9}"/>
              </a:ext>
            </a:extLst>
          </p:cNvPr>
          <p:cNvSpPr txBox="1"/>
          <p:nvPr/>
        </p:nvSpPr>
        <p:spPr>
          <a:xfrm>
            <a:off x="7431414" y="1760723"/>
            <a:ext cx="16266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k=8 candidate kernels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84664E7-E0A2-154E-77F3-E289E674CAB3}"/>
              </a:ext>
            </a:extLst>
          </p:cNvPr>
          <p:cNvSpPr txBox="1"/>
          <p:nvPr/>
        </p:nvSpPr>
        <p:spPr>
          <a:xfrm>
            <a:off x="3440445" y="3402838"/>
            <a:ext cx="1766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Output metrics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961D4BB-434E-6226-130F-2CFC88027F62}"/>
              </a:ext>
            </a:extLst>
          </p:cNvPr>
          <p:cNvSpPr txBox="1"/>
          <p:nvPr/>
        </p:nvSpPr>
        <p:spPr>
          <a:xfrm>
            <a:off x="4758772" y="3402838"/>
            <a:ext cx="1766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 scalar rewards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63B1424-11C6-7AB4-72B2-6E279CDD2AC6}"/>
              </a:ext>
            </a:extLst>
          </p:cNvPr>
          <p:cNvSpPr txBox="1"/>
          <p:nvPr/>
        </p:nvSpPr>
        <p:spPr>
          <a:xfrm>
            <a:off x="4758772" y="5098573"/>
            <a:ext cx="17660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 scalar rewards</a:t>
            </a:r>
          </a:p>
        </p:txBody>
      </p: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32BCB60A-A0B6-2DCE-01B5-8A7F73935271}"/>
              </a:ext>
            </a:extLst>
          </p:cNvPr>
          <p:cNvCxnSpPr>
            <a:cxnSpLocks/>
            <a:stCxn id="26" idx="3"/>
            <a:endCxn id="22" idx="3"/>
          </p:cNvCxnSpPr>
          <p:nvPr/>
        </p:nvCxnSpPr>
        <p:spPr>
          <a:xfrm flipH="1" flipV="1">
            <a:off x="7208655" y="4425308"/>
            <a:ext cx="1088271" cy="1476129"/>
          </a:xfrm>
          <a:prstGeom prst="bentConnector3">
            <a:avLst>
              <a:gd name="adj1" fmla="val -21006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DE2E84D4-C36B-C4BA-7AD1-D4CC3444E483}"/>
              </a:ext>
            </a:extLst>
          </p:cNvPr>
          <p:cNvCxnSpPr>
            <a:cxnSpLocks/>
            <a:endCxn id="12" idx="3"/>
          </p:cNvCxnSpPr>
          <p:nvPr/>
        </p:nvCxnSpPr>
        <p:spPr>
          <a:xfrm rot="5400000" flipH="1" flipV="1">
            <a:off x="6687337" y="3305880"/>
            <a:ext cx="3713342" cy="1642"/>
          </a:xfrm>
          <a:prstGeom prst="bentConnector4">
            <a:avLst>
              <a:gd name="adj1" fmla="val 113"/>
              <a:gd name="adj2" fmla="val 25543727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923AE4CC-7B61-C855-8C61-564632535ED9}"/>
              </a:ext>
            </a:extLst>
          </p:cNvPr>
          <p:cNvCxnSpPr>
            <a:cxnSpLocks/>
            <a:stCxn id="18" idx="1"/>
            <a:endCxn id="23" idx="2"/>
          </p:cNvCxnSpPr>
          <p:nvPr/>
        </p:nvCxnSpPr>
        <p:spPr>
          <a:xfrm rot="10800000" flipH="1" flipV="1">
            <a:off x="599170" y="2716138"/>
            <a:ext cx="3972829" cy="3701970"/>
          </a:xfrm>
          <a:prstGeom prst="bentConnector4">
            <a:avLst>
              <a:gd name="adj1" fmla="val -5754"/>
              <a:gd name="adj2" fmla="val 106175"/>
            </a:avLst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4592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ACF053F1412A448BEFC4C413655C72" ma:contentTypeVersion="8" ma:contentTypeDescription="Create a new document." ma:contentTypeScope="" ma:versionID="3ff19a9ecb9e6e576fa4c11dded51e5c">
  <xsd:schema xmlns:xsd="http://www.w3.org/2001/XMLSchema" xmlns:xs="http://www.w3.org/2001/XMLSchema" xmlns:p="http://schemas.microsoft.com/office/2006/metadata/properties" xmlns:ns3="30d5ecef-13ea-4da4-aee3-356dcf0deaab" xmlns:ns4="99a4ceb7-9dbd-466c-93fb-36f1c5e05c6c" targetNamespace="http://schemas.microsoft.com/office/2006/metadata/properties" ma:root="true" ma:fieldsID="6d48a5a1d96887fa7fe8a3605402efc2" ns3:_="" ns4:_="">
    <xsd:import namespace="30d5ecef-13ea-4da4-aee3-356dcf0deaab"/>
    <xsd:import namespace="99a4ceb7-9dbd-466c-93fb-36f1c5e05c6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d5ecef-13ea-4da4-aee3-356dcf0dea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a4ceb7-9dbd-466c-93fb-36f1c5e05c6c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0d5ecef-13ea-4da4-aee3-356dcf0deaab" xsi:nil="true"/>
  </documentManagement>
</p:properties>
</file>

<file path=customXml/itemProps1.xml><?xml version="1.0" encoding="utf-8"?>
<ds:datastoreItem xmlns:ds="http://schemas.openxmlformats.org/officeDocument/2006/customXml" ds:itemID="{A6F0B0F1-DF90-4999-84C2-410B64DF0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d5ecef-13ea-4da4-aee3-356dcf0deaab"/>
    <ds:schemaRef ds:uri="99a4ceb7-9dbd-466c-93fb-36f1c5e05c6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23DFBE-7B9E-40D1-ACE3-9C5E40EA4E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69D29D-BFF0-44E8-A389-7ADF550ADDC6}">
  <ds:schemaRefs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purl.org/dc/terms/"/>
    <ds:schemaRef ds:uri="http://schemas.microsoft.com/office/2006/documentManagement/types"/>
    <ds:schemaRef ds:uri="99a4ceb7-9dbd-466c-93fb-36f1c5e05c6c"/>
    <ds:schemaRef ds:uri="http://schemas.microsoft.com/office/infopath/2007/PartnerControls"/>
    <ds:schemaRef ds:uri="30d5ecef-13ea-4da4-aee3-356dcf0deaab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</TotalTime>
  <Words>209</Words>
  <Application>Microsoft Macintosh PowerPoint</Application>
  <PresentationFormat>On-screen Show (4:3)</PresentationFormat>
  <Paragraphs>62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Lin, Phoena Z</dc:creator>
  <cp:lastModifiedBy>Gabriel K Bo</cp:lastModifiedBy>
  <cp:revision>1</cp:revision>
  <dcterms:created xsi:type="dcterms:W3CDTF">2026-03-05T20:04:22Z</dcterms:created>
  <dcterms:modified xsi:type="dcterms:W3CDTF">2026-03-05T20:59:21Z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0x0101000FACF053F1412A448BEFC4C413655C72</vt:lpwstr>
  </property>
</Properties>
</file>